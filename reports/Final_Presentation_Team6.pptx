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72" r:id="rId7"/>
    <p:sldId id="259" r:id="rId8"/>
    <p:sldId id="260" r:id="rId9"/>
    <p:sldId id="268" r:id="rId10"/>
    <p:sldId id="262" r:id="rId11"/>
    <p:sldId id="267" r:id="rId12"/>
    <p:sldId id="264" r:id="rId13"/>
    <p:sldId id="266" r:id="rId14"/>
    <p:sldId id="269" r:id="rId15"/>
    <p:sldId id="270" r:id="rId16"/>
    <p:sldId id="25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0" autoAdjust="0"/>
    <p:restoredTop sz="92483" autoAdjust="0"/>
  </p:normalViewPr>
  <p:slideViewPr>
    <p:cSldViewPr snapToGrid="0">
      <p:cViewPr varScale="1">
        <p:scale>
          <a:sx n="64" d="100"/>
          <a:sy n="64" d="100"/>
        </p:scale>
        <p:origin x="2160" y="3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79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46EAF0-58C0-4377-AEDC-DEE51E77629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CFE0AA-7C43-46F8-99EC-ED68FD117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965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CFE0AA-7C43-46F8-99EC-ED68FD11790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655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B75B1-0720-0E58-73DD-0F086AF3E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E33B49-DF35-9B2E-F0E4-2874E9A49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7594-29B0-878C-E08B-483466B75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Team 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9C844-20DC-31BE-134F-7AF467192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2374-AFB0-4057-AF61-3953E05D5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494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2855C-3900-ADBB-AF67-C4BE38164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06D88-F90F-0530-EFAF-382172B44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38B1A-1FC1-EECD-34D2-8CE27D716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Team 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7A660-E739-E91B-21BC-E85CE32CE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2374-AFB0-4057-AF61-3953E05D5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551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9241E-DB0A-0BA0-684E-1B8B5ED47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9DB84-1F57-6AF4-BE67-6E1627B98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13763-58E8-95D9-8FE0-D83F22D73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85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Team 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596C8-76EE-A6B8-EB9D-A9A22AECD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2374-AFB0-4057-AF61-3953E05D5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780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9D4D9-B669-5512-3312-30C2989D2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D368E-3BEF-6BC4-B443-1CB15DF663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A51DBF-7A89-165C-38E3-E0CD325326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DFB09-3C09-FB93-0EBE-99FC922E1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Team 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A1C25-799A-2045-7218-3E9780CB5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2374-AFB0-4057-AF61-3953E05D5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858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575BB-9638-E5FA-8F02-177192E47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3D05C-2AB0-4BE1-DA8F-F557C4A4C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AD34EE-F664-D96B-EE51-3419EA568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16354-1D86-23D7-8DF3-BE595112E4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FAEAB8-5613-FC0C-A945-BAB1E71F0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DF8790-FA2D-61DB-05FD-6C53C9921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Team 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5A2CA6-C812-2223-FF51-3A0942408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2374-AFB0-4057-AF61-3953E05D5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09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9B0A2-25C2-42BE-D80A-963160368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A45807-B178-E2AA-092D-C40F2B595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Team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D6630D-30C9-3ECA-1161-B8F0BA7DD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2374-AFB0-4057-AF61-3953E05D5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878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ED61D4-C642-7AA6-D16C-2C9C1E882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Team 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8F26D-9D22-9487-FE61-EF847976B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2374-AFB0-4057-AF61-3953E05D5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16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0AC0C-BBE1-A2F9-1C79-2D20B3DC8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C3672-78A0-5D89-BDBE-F0E896A67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03534-4C63-04BE-56CB-521056E59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BCB3FB-BF07-0BA6-F750-21B5BE464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Team 6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21E27-3C6C-5F8E-3BAC-598FB1136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2374-AFB0-4057-AF61-3953E05D5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41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8D15C-F6A5-6CF1-C5DF-4D6E6C978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873A2B-77D3-703C-8574-D336C2AA38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2C20E-F56D-10C4-AF26-FD6C46551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99F6F9-FE9B-A573-C8D4-B63E1FEBA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Team 6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3339F-8259-8E1F-2BCF-D058EFF5C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2374-AFB0-4057-AF61-3953E05D5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852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BCFAC-6FF2-D2BD-4D5F-DC9CD3BAC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3B8F0A-D5FD-C950-1D95-8B15C29D1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7FC03-8F59-25F8-38EE-596DB3DD9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Team 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4199A-C542-1374-08F1-C62E64AA7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2374-AFB0-4057-AF61-3953E05D5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1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FA3DB9-D345-1028-C377-7CFBF7ED19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AD32C4-DC81-6297-EBD2-64449ADEAD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61751-C45E-AD15-2F45-FB0D14D1A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Team 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FCCCE-2EE8-8188-50D9-11391BFA5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2374-AFB0-4057-AF61-3953E05D5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32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ean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43325"/>
            <a:ext cx="11201400" cy="0"/>
          </a:xfrm>
          <a:prstGeom prst="line">
            <a:avLst/>
          </a:prstGeom>
          <a:noFill/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A598A53-251A-641E-86BE-02EFBBA92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Team 6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9669005-B0E4-12BB-1E0C-ED34289E3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01C2374-AFB0-4057-AF61-3953E05D5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417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F47254-A8E2-BF6B-5C0B-324C02804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C5E46-79CD-3616-8B43-9DCB15497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EEB65-00AC-C779-2B38-07030A6AEB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Team 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41129-48DB-6BA0-4E93-D0700DC0B9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1C2374-AFB0-4057-AF61-3953E05D5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80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18A9EC-044A-CDEF-0980-2A58995EE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US" sz="8000" dirty="0"/>
              <a:t>Concrete Strength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A43F86-526C-5256-5105-0DA44037CA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924" y="4619624"/>
            <a:ext cx="3946779" cy="1038225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Mark Gregory &amp; Abel Berta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8205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AA7E6E-D41E-DFFF-B749-B59784DE3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b="1"/>
              <a:t>Why This Matters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67E18-09E2-5C28-3AF2-657DB7152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/>
              <a:t>We predict </a:t>
            </a:r>
            <a:r>
              <a:rPr lang="en-US" sz="2200" b="1"/>
              <a:t>compressive strength</a:t>
            </a:r>
            <a:r>
              <a:rPr lang="en-US" sz="2200"/>
              <a:t>, measured in megaparsec (</a:t>
            </a:r>
            <a:r>
              <a:rPr lang="en-US" sz="2200" b="1"/>
              <a:t>MPa)</a:t>
            </a:r>
            <a:r>
              <a:rPr lang="en-US" sz="2200"/>
              <a:t>.</a:t>
            </a:r>
          </a:p>
          <a:p>
            <a:r>
              <a:rPr lang="en-US" sz="2200" b="1"/>
              <a:t>Overestimating strength</a:t>
            </a:r>
            <a:r>
              <a:rPr lang="en-US" sz="2200"/>
              <a:t> could lead to unsafe mix decisions.</a:t>
            </a:r>
          </a:p>
          <a:p>
            <a:r>
              <a:rPr lang="en-US" sz="2200" b="1"/>
              <a:t>Underestimating strength</a:t>
            </a:r>
            <a:r>
              <a:rPr lang="en-US" sz="2200"/>
              <a:t> can cause over-design, higher material cost, and unnecessary cement use.</a:t>
            </a:r>
          </a:p>
          <a:p>
            <a:r>
              <a:rPr lang="en-US" sz="2200"/>
              <a:t>A useful model can help narrow candidate mixes before full lab validation</a:t>
            </a:r>
          </a:p>
          <a:p>
            <a:endParaRPr lang="en-US" sz="22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67F70F-6F78-D6CC-C16A-11A003DD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Team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CFAB63-30A8-592D-AB77-BE318A30E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2374-AFB0-4057-AF61-3953E05D519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756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69AEA6-C816-793D-BB6D-D87D8653A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56F78DE-0782-83B4-7F11-AB5D5DB2B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A4D6D4-C69F-1E86-CDA7-2E6EEB504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 dirty="0"/>
              <a:t>Data Overview</a:t>
            </a:r>
            <a:endParaRPr lang="en-US" sz="3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777B87-87A8-7024-064C-F09754696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4E81E8-194A-3836-0D3F-5A9406F3F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8DFE6C-C313-C7E1-78ED-461449BF62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Source: UCI Concrete Compressive Strength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Raw data: </a:t>
            </a:r>
            <a:r>
              <a:rPr lang="en-US" sz="1800" b="1" dirty="0"/>
              <a:t>1,030 rows × 9 columns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Predictors: </a:t>
            </a:r>
            <a:r>
              <a:rPr lang="en-US" sz="1800" b="1" dirty="0"/>
              <a:t>8 mix/curing variables</a:t>
            </a:r>
            <a:r>
              <a:rPr lang="en-US" sz="1800" dirty="0"/>
              <a:t> — cement, slag, fly ash, water, superplasticizer, coarse aggregate, fine aggregate, 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Target: </a:t>
            </a:r>
            <a:r>
              <a:rPr lang="en-US" sz="1800" b="1" dirty="0"/>
              <a:t>concrete compressive strength</a:t>
            </a:r>
            <a:r>
              <a:rPr lang="en-US" sz="1800" dirty="0"/>
              <a:t> in MPa.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After removing </a:t>
            </a:r>
            <a:r>
              <a:rPr lang="en-US" sz="1800" b="1" dirty="0"/>
              <a:t>25 duplicate rows</a:t>
            </a:r>
            <a:r>
              <a:rPr lang="en-US" sz="1800" dirty="0"/>
              <a:t>, modeling used </a:t>
            </a:r>
            <a:r>
              <a:rPr lang="en-US" sz="1800" b="1" dirty="0"/>
              <a:t>1,005 rows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Train/test split: </a:t>
            </a:r>
            <a:r>
              <a:rPr lang="en-US" sz="1800" b="1" dirty="0"/>
              <a:t>804 train / 201 test</a:t>
            </a:r>
            <a:r>
              <a:rPr lang="en-US" sz="1800" dirty="0"/>
              <a:t> using an 80/20 split.</a:t>
            </a:r>
          </a:p>
          <a:p>
            <a:endParaRPr lang="en-US" sz="18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83F18EF-550D-17EC-1B87-C3B4AD64EF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64893" y="1771372"/>
            <a:ext cx="7315200" cy="3917898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9BB5796-4DD3-C57A-6DDA-72652D5F3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6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FE2072D-D071-BB3B-E0CA-2947003F6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2374-AFB0-4057-AF61-3953E05D519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31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3711C2-B24F-B269-111C-C1267CA72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Target Distribution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2743CF-E0A9-989F-62D4-A8AEAAC698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 dirty="0"/>
              <a:t>Strength range: </a:t>
            </a:r>
            <a:r>
              <a:rPr lang="en-US" sz="1600" b="1" dirty="0"/>
              <a:t>2.33 to 82.60 MPa</a:t>
            </a:r>
            <a:r>
              <a:rPr lang="en-US" sz="1600" dirty="0"/>
              <a:t>.</a:t>
            </a:r>
          </a:p>
          <a:p>
            <a:r>
              <a:rPr lang="en-US" sz="1600" dirty="0"/>
              <a:t>Mean strength: </a:t>
            </a:r>
            <a:r>
              <a:rPr lang="en-US" sz="1600" b="1" dirty="0"/>
              <a:t>35.82 MPa</a:t>
            </a:r>
            <a:r>
              <a:rPr lang="en-US" sz="1600" dirty="0"/>
              <a:t>.</a:t>
            </a:r>
          </a:p>
          <a:p>
            <a:r>
              <a:rPr lang="en-US" sz="1600" dirty="0"/>
              <a:t>Median strength: </a:t>
            </a:r>
            <a:r>
              <a:rPr lang="en-US" sz="1600" b="1" dirty="0"/>
              <a:t>34.44 MPa</a:t>
            </a:r>
            <a:r>
              <a:rPr lang="en-US" sz="1600" dirty="0"/>
              <a:t>.</a:t>
            </a:r>
          </a:p>
          <a:p>
            <a:r>
              <a:rPr lang="en-US" sz="1600" dirty="0"/>
              <a:t>Distribution is mildly right-skewed, with some very low and very high strength values.</a:t>
            </a:r>
          </a:p>
          <a:p>
            <a:endParaRPr lang="en-US" sz="18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F43B26B-51C7-C117-857E-35AF2A6DC31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01584" y="1606118"/>
            <a:ext cx="7132320" cy="3976127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C4BEA5-FD5C-BAF5-62DD-E3DF60B51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Team 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F823747-3F9E-0D4A-FEDD-249EFED17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2374-AFB0-4057-AF61-3953E05D519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0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C7A6F6-4526-0A2F-513F-513646250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EDA Patterns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20E777-81E3-816E-54C2-C80915F58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Strongest positive raw correlation: </a:t>
            </a:r>
            <a:r>
              <a:rPr lang="en-US" sz="1800" b="1" dirty="0"/>
              <a:t>cement, r = 0.50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Other positive relationships: </a:t>
            </a:r>
            <a:r>
              <a:rPr lang="en-US" sz="1800" b="1" dirty="0"/>
              <a:t>superplasticizer, r = 0.37</a:t>
            </a:r>
            <a:r>
              <a:rPr lang="en-US" sz="1800" dirty="0"/>
              <a:t>; </a:t>
            </a:r>
            <a:r>
              <a:rPr lang="en-US" sz="1800" b="1" dirty="0"/>
              <a:t>age, r = 0.33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Strongest negative raw relationship: </a:t>
            </a:r>
            <a:r>
              <a:rPr lang="en-US" sz="1800" b="1" dirty="0"/>
              <a:t>water, r = −0.29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This matches concrete-domain intuition: more binder/curing improves strength, while excess water weakens the mix.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7AA9CEE-6E83-BF45-947A-B66F4E8401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42474" y="676787"/>
            <a:ext cx="6675120" cy="564764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C560B38-6AD1-B5C1-D1DA-233AF411B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Team 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33B52D-5801-EC1C-E057-D1EAD958D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2374-AFB0-4057-AF61-3953E05D519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117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FA181D-9410-B294-41E8-3F1C7B8AB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8937D9F-FE44-EA9A-3BA0-075E3B5E6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7109EC-1A09-958A-EEFC-93CB5488B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 dirty="0"/>
              <a:t>Preprocessing Decisions </a:t>
            </a:r>
            <a:endParaRPr lang="en-US" sz="3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AF666E-D021-D2C1-80E5-2A6520629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9E4305-02ED-A156-7D9E-D059E24AB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9DCBF-90DB-C71C-D1B0-B2C36AAC55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Removed </a:t>
            </a:r>
            <a:r>
              <a:rPr lang="en-US" sz="1800" b="1" dirty="0"/>
              <a:t>25 duplicate rows</a:t>
            </a:r>
            <a:r>
              <a:rPr lang="en-US" sz="1800" dirty="0"/>
              <a:t> before modeling.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No missing target values: </a:t>
            </a:r>
            <a:r>
              <a:rPr lang="en-US" sz="1800" b="1" dirty="0"/>
              <a:t>0 missing target rows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No missing predictor values in train or test: </a:t>
            </a:r>
            <a:r>
              <a:rPr lang="en-US" sz="1800" b="1" dirty="0"/>
              <a:t>0 missing feature values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Used an </a:t>
            </a:r>
            <a:r>
              <a:rPr lang="en-US" sz="1800" b="1" dirty="0"/>
              <a:t>80/20 train-test split</a:t>
            </a:r>
            <a:r>
              <a:rPr lang="en-US" sz="1800" dirty="0"/>
              <a:t> with </a:t>
            </a:r>
            <a:r>
              <a:rPr lang="en-US" sz="1800" dirty="0" err="1"/>
              <a:t>random_state</a:t>
            </a:r>
            <a:r>
              <a:rPr lang="en-US" sz="1800" dirty="0"/>
              <a:t> = 4950.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Applied IQR outlier capping using </a:t>
            </a:r>
            <a:r>
              <a:rPr lang="en-US" sz="1800" b="1" dirty="0"/>
              <a:t>training data only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Largest outlier rate was </a:t>
            </a:r>
            <a:r>
              <a:rPr lang="en-US" sz="1800" b="1" dirty="0"/>
              <a:t>Age: 6.09%</a:t>
            </a:r>
            <a:r>
              <a:rPr lang="en-US" sz="1800" dirty="0"/>
              <a:t>; water and superplasticizer were also capped.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50FB04B-D9DB-B39D-3192-6821171DC5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02772" y="1642314"/>
            <a:ext cx="7132320" cy="4118220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E18FB6D-95B0-EE3A-42CB-9CA37462A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6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4C31E80-FC32-C965-ED54-14AE04608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2374-AFB0-4057-AF61-3953E05D519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862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6E1B74-C1BD-F23F-EF6A-F1C976A09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 Engineering</a:t>
            </a:r>
            <a:endParaRPr lang="en-US" sz="3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2474C-9288-542B-6605-7AF6421A1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Started with </a:t>
            </a:r>
            <a:r>
              <a:rPr lang="en-US" b="1" dirty="0"/>
              <a:t>8 raw predictors</a:t>
            </a:r>
            <a:r>
              <a:rPr lang="en-US" dirty="0"/>
              <a:t>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Engineered </a:t>
            </a:r>
            <a:r>
              <a:rPr lang="en-US" b="1" dirty="0"/>
              <a:t>40 features</a:t>
            </a:r>
            <a:r>
              <a:rPr lang="en-US" dirty="0"/>
              <a:t>, then pruned to </a:t>
            </a:r>
            <a:r>
              <a:rPr lang="en-US" b="1" dirty="0"/>
              <a:t>29 retained features</a:t>
            </a:r>
            <a:r>
              <a:rPr lang="en-US" dirty="0"/>
              <a:t>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Best engineered correlations with strength: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1600" dirty="0" err="1"/>
              <a:t>binder_x_age</a:t>
            </a:r>
            <a:r>
              <a:rPr lang="en-US" sz="1600" dirty="0"/>
              <a:t>: </a:t>
            </a:r>
            <a:r>
              <a:rPr lang="en-US" sz="1600" b="1" dirty="0"/>
              <a:t>r = 0.821</a:t>
            </a:r>
            <a:endParaRPr lang="en-US" sz="1600" dirty="0"/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1600" dirty="0" err="1"/>
              <a:t>cement_x_age</a:t>
            </a:r>
            <a:r>
              <a:rPr lang="en-US" sz="1600" dirty="0"/>
              <a:t>: </a:t>
            </a:r>
            <a:r>
              <a:rPr lang="en-US" sz="1600" b="1" dirty="0"/>
              <a:t>r = 0.731</a:t>
            </a:r>
            <a:endParaRPr lang="en-US" sz="1600" dirty="0"/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1600" dirty="0" err="1"/>
              <a:t>binder_minus_water</a:t>
            </a:r>
            <a:r>
              <a:rPr lang="en-US" sz="1600" dirty="0"/>
              <a:t>: </a:t>
            </a:r>
            <a:r>
              <a:rPr lang="en-US" sz="1600" b="1" dirty="0"/>
              <a:t>r = 0.636</a:t>
            </a:r>
            <a:endParaRPr lang="en-US" sz="16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Engineered + </a:t>
            </a:r>
            <a:r>
              <a:rPr lang="en-US" dirty="0" err="1"/>
              <a:t>StandardScaler</a:t>
            </a:r>
            <a:r>
              <a:rPr lang="en-US" dirty="0"/>
              <a:t> improved CV RMSE from </a:t>
            </a:r>
            <a:r>
              <a:rPr lang="en-US" b="1" dirty="0"/>
              <a:t>8.36 MPa</a:t>
            </a:r>
            <a:r>
              <a:rPr lang="en-US" dirty="0"/>
              <a:t> to </a:t>
            </a:r>
            <a:r>
              <a:rPr lang="en-US" b="1" dirty="0"/>
              <a:t>6.36 MPa</a:t>
            </a:r>
            <a:r>
              <a:rPr lang="en-US" dirty="0"/>
              <a:t> in Ridge-style validation.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16DA435-2B10-26E9-1436-6A21F12D2A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36764" y="1604704"/>
            <a:ext cx="7132320" cy="3979259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D59B02F-C7E6-AF66-837B-2387B27AE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1AF7A81-B771-5137-66A8-45248D1CE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2374-AFB0-4057-AF61-3953E05D519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333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EB96A2-E4F0-1533-86F8-F60CE352C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14CC0CE6-3300-FCE6-D035-8BD4EE691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E50624-6BEF-DDB9-0A28-7967D235C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 dirty="0"/>
              <a:t>Models Trained</a:t>
            </a:r>
            <a:endParaRPr lang="en-US" sz="3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158015E-72C5-3EC2-1C70-886E94C41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E7AB747-D2D4-DA0B-06FE-E7C643932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C0D832-A27F-9D29-D5BC-E61185015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Baseline: predict the training mean every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Linear models: Linear Regression, Ridge, Lasso.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Tree models: Decision Tree, Random Forest, Gradient Boosting.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Tuned models: Ridge, Random Forest, Gradient Boosting.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Validation: held-out test set plus </a:t>
            </a:r>
            <a:r>
              <a:rPr lang="en-US" b="1" dirty="0"/>
              <a:t>5-fold cross-validation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E8D46AF-4ADE-BE5C-1D58-77A4FCEFB0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27156" y="1859678"/>
            <a:ext cx="7132320" cy="3615871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BFEB6C4-8AD7-823E-1D5B-24D4C795A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6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B38B09-F5B3-E9B1-87F2-13CE9A659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2374-AFB0-4057-AF61-3953E05D519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19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EADDFB-6D75-77B1-A324-CDF399AED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Comparison</a:t>
            </a:r>
            <a:endParaRPr lang="en-US" sz="3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4D6521-37B3-67A3-7B01-7D54ECD2D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Naive baseline RMSE: </a:t>
            </a:r>
            <a:r>
              <a:rPr lang="en-US" b="1" dirty="0"/>
              <a:t>15.71 MPa</a:t>
            </a:r>
            <a:r>
              <a:rPr lang="en-US" dirty="0"/>
              <a:t>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Best model: </a:t>
            </a:r>
            <a:r>
              <a:rPr lang="en-US" b="1" dirty="0"/>
              <a:t>Tuned Gradient Boosting</a:t>
            </a:r>
            <a:r>
              <a:rPr lang="en-US" dirty="0"/>
              <a:t>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Tuned Gradient Boosting test RMSE: </a:t>
            </a:r>
            <a:r>
              <a:rPr lang="en-US" b="1" dirty="0"/>
              <a:t>4.0616 MPa</a:t>
            </a:r>
            <a:r>
              <a:rPr lang="en-US" dirty="0"/>
              <a:t>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Tuned Gradient Boosting test R²: </a:t>
            </a:r>
            <a:r>
              <a:rPr lang="en-US" b="1" dirty="0"/>
              <a:t>0.9331</a:t>
            </a:r>
            <a:r>
              <a:rPr lang="en-US" dirty="0"/>
              <a:t>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Tuned Gradient Boosting reduced RMSE by about </a:t>
            </a:r>
            <a:r>
              <a:rPr lang="en-US" b="1" dirty="0"/>
              <a:t>11.64 MPa</a:t>
            </a:r>
            <a:r>
              <a:rPr lang="en-US" dirty="0"/>
              <a:t> versus the naive baseline.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02E9F0B-0538-7736-4B9C-DDB0F52AE9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37595" y="1606118"/>
            <a:ext cx="7132320" cy="3976127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70F373F-798A-456A-5E0B-39C853B3B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7CC977F-A88B-F1A6-58AE-6DFD9C1D2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2374-AFB0-4057-AF61-3953E05D519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562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528116-82E3-8737-E931-4C5FD87BC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F7B17A5-ABC4-D1AE-16D8-E6AF15220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1D7DB4-7B39-15CE-534B-D4EC1697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600" b="1" dirty="0"/>
              <a:t>Test Performance and Cross-Validation</a:t>
            </a:r>
            <a:endParaRPr lang="en-US" sz="3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BF2F24-9B1D-AD66-8ECB-6BB9D8E7B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D9D79F-EC69-C613-BED5-500353F40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CD98D2-CC91-026E-01BB-3F1C8BCA71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Best hyperparameters: learning rate </a:t>
            </a:r>
            <a:r>
              <a:rPr lang="en-US" b="1" dirty="0"/>
              <a:t>0.1</a:t>
            </a:r>
            <a:r>
              <a:rPr lang="en-US" dirty="0"/>
              <a:t>, max depth </a:t>
            </a:r>
            <a:r>
              <a:rPr lang="en-US" b="1" dirty="0"/>
              <a:t>3</a:t>
            </a:r>
            <a:r>
              <a:rPr lang="en-US" dirty="0"/>
              <a:t>, estimators </a:t>
            </a:r>
            <a:r>
              <a:rPr lang="en-US" b="1" dirty="0"/>
              <a:t>300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5-fold CV mean R²: </a:t>
            </a:r>
            <a:r>
              <a:rPr lang="en-US" b="1" dirty="0"/>
              <a:t>0.9230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5-fold CV standard deviation: </a:t>
            </a:r>
            <a:r>
              <a:rPr lang="en-US" b="1" dirty="0"/>
              <a:t>0.0192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 R²: </a:t>
            </a:r>
            <a:r>
              <a:rPr lang="en-US" b="1" dirty="0"/>
              <a:t>0.9873</a:t>
            </a:r>
            <a:r>
              <a:rPr lang="en-US" dirty="0"/>
              <a:t>; test R²: </a:t>
            </a:r>
            <a:r>
              <a:rPr lang="en-US" b="1" dirty="0"/>
              <a:t>0.9331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Train-test R² gap: ~</a:t>
            </a:r>
            <a:r>
              <a:rPr lang="en-US" b="1" dirty="0"/>
              <a:t>0.0542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957A7AA-C201-6684-6425-BAFEA331F7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14964" y="1688306"/>
            <a:ext cx="7132320" cy="4011929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F51FD5D-DB67-A7BC-69EC-9B5F9B844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6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6DE8747-DC35-AD09-112A-E66DA56E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2374-AFB0-4057-AF61-3953E05D519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64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C3C9FA-2417-42BE-6653-53CA14EC5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 dirty="0"/>
              <a:t>Error Analysis</a:t>
            </a:r>
            <a:endParaRPr lang="en-US" sz="3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317671-0A54-DFEE-8863-D71032736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RMSE = </a:t>
            </a:r>
            <a:r>
              <a:rPr lang="en-US" b="1" dirty="0"/>
              <a:t>4.0616 MPa</a:t>
            </a:r>
            <a:r>
              <a:rPr lang="en-US" dirty="0"/>
              <a:t>, much lower than baseline RMSE = </a:t>
            </a:r>
            <a:r>
              <a:rPr lang="en-US" b="1" dirty="0"/>
              <a:t>15.71 </a:t>
            </a:r>
            <a:r>
              <a:rPr lang="en-US" b="1" dirty="0" err="1"/>
              <a:t>Mpa</a:t>
            </a:r>
            <a:r>
              <a:rPr lang="en-US" dirty="0"/>
              <a:t>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.Actual vs. predicted points mostly follow the diagonal, showing strong overall fit.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Residuals are centered near zero: mean residual = </a:t>
            </a:r>
            <a:r>
              <a:rPr lang="en-US" b="1" dirty="0"/>
              <a:t>0.13 MPa</a:t>
            </a:r>
            <a:r>
              <a:rPr lang="en-US" dirty="0"/>
              <a:t>, suggesting little overall bias.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Main risk: a few high-error mixes remain, especially at moderate-to-high predicted strengths.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06E248D-4C55-5767-E2D0-76126DCEC3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24407" y="1606118"/>
            <a:ext cx="7132320" cy="3976127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FC407B-E80D-6300-1AB8-69C2EDEF9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332FB19-38A9-A9DC-0E52-92541E4DA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2374-AFB0-4057-AF61-3953E05D519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289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E0C884-522A-F606-3C41-93F9EF2F5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 Importance</a:t>
            </a:r>
            <a:endParaRPr lang="en-US" sz="3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F304F-F79F-E762-7E14-4F25FABA8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/>
              <a:t>Top feature: binder_x_age, importance </a:t>
            </a:r>
            <a:r>
              <a:rPr lang="en-US" sz="1800" b="1"/>
              <a:t>0.523</a:t>
            </a:r>
            <a:r>
              <a:rPr lang="en-US" sz="1800"/>
              <a:t>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/>
              <a:t>Second: water_binder_ratio, importance </a:t>
            </a:r>
            <a:r>
              <a:rPr lang="en-US" sz="1800" b="1"/>
              <a:t>0.166</a:t>
            </a:r>
            <a:r>
              <a:rPr lang="en-US" sz="1800"/>
              <a:t>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/>
              <a:t>Third: cement_x_age, importance </a:t>
            </a:r>
            <a:r>
              <a:rPr lang="en-US" sz="1800" b="1"/>
              <a:t>0.147</a:t>
            </a:r>
            <a:r>
              <a:rPr lang="en-US" sz="1800"/>
              <a:t>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/>
              <a:t>Interpretation: strength depends most on cementitious material, curing time, and water relative to binder.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180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5094E12-A1BB-74C5-FAE0-99D4A801B6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17858" y="1604704"/>
            <a:ext cx="7132320" cy="3979259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CF9B623-250E-25FA-1FDA-7F3CE9E0A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2E5BC6-1120-FC36-64FE-7EEF889DF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2374-AFB0-4057-AF61-3953E05D519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228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0976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</a:pPr>
            <a:r>
              <a:rPr lang="en-US" sz="3400" b="1" dirty="0">
                <a:latin typeface="+mj-lt"/>
                <a:ea typeface="+mj-ea"/>
                <a:cs typeface="+mj-cs"/>
              </a:rPr>
              <a:t>Recommendations, Limitations, and Next Steps</a:t>
            </a:r>
          </a:p>
        </p:txBody>
      </p:sp>
      <p:sp>
        <p:nvSpPr>
          <p:cNvPr id="3" name="Text 1"/>
          <p:cNvSpPr/>
          <p:nvPr/>
        </p:nvSpPr>
        <p:spPr>
          <a:xfrm>
            <a:off x="658368" y="10607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Use the model to screen mixes, not replace testing</a:t>
            </a:r>
          </a:p>
        </p:txBody>
      </p:sp>
      <p:sp>
        <p:nvSpPr>
          <p:cNvPr id="4" name="Text 2"/>
          <p:cNvSpPr/>
          <p:nvPr/>
        </p:nvSpPr>
        <p:spPr>
          <a:xfrm>
            <a:off x="658368" y="1481328"/>
            <a:ext cx="10863072" cy="27432"/>
          </a:xfrm>
          <a:prstGeom prst="rect">
            <a:avLst/>
          </a:prstGeom>
          <a:solidFill>
            <a:srgbClr val="E2E8F0"/>
          </a:solidFill>
          <a:ln>
            <a:solidFill>
              <a:srgbClr val="E2E8F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8368" y="1783080"/>
            <a:ext cx="3429000" cy="9144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8368" y="1975104"/>
            <a:ext cx="3429000" cy="3621024"/>
          </a:xfrm>
          <a:prstGeom prst="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Recommendations</a:t>
            </a:r>
            <a:endParaRPr lang="en-US" b="1" dirty="0">
              <a:solidFill>
                <a:srgbClr val="0F172A"/>
              </a:solidFill>
            </a:endParaRPr>
          </a:p>
          <a:p>
            <a:pPr marL="114300" indent="-342900">
              <a:lnSpc>
                <a:spcPct val="90000"/>
              </a:lnSpc>
              <a:buFont typeface="+mj-lt"/>
              <a:buAutoNum type="arabicPeriod"/>
            </a:pPr>
            <a:endParaRPr lang="en-US" sz="1600" dirty="0"/>
          </a:p>
          <a:p>
            <a:pPr marL="400050" indent="-342900">
              <a:lnSpc>
                <a:spcPct val="90000"/>
              </a:lnSpc>
              <a:buFont typeface="+mj-lt"/>
              <a:buAutoNum type="arabicPeriod"/>
            </a:pPr>
            <a:r>
              <a:rPr lang="en-US" sz="1600" dirty="0"/>
              <a:t>Use the model for early mix screening because it cuts RMSE from </a:t>
            </a:r>
            <a:r>
              <a:rPr lang="en-US" sz="1600" b="1" dirty="0"/>
              <a:t>15.71 MPa </a:t>
            </a:r>
            <a:r>
              <a:rPr lang="en-US" sz="1600" dirty="0"/>
              <a:t>to </a:t>
            </a:r>
            <a:r>
              <a:rPr lang="en-US" sz="1600" b="1" dirty="0"/>
              <a:t>4.0616 MPa</a:t>
            </a:r>
            <a:r>
              <a:rPr lang="en-US" sz="1600" dirty="0"/>
              <a:t>.</a:t>
            </a:r>
          </a:p>
          <a:p>
            <a:pPr marL="400050" indent="-342900">
              <a:lnSpc>
                <a:spcPct val="90000"/>
              </a:lnSpc>
              <a:buFont typeface="+mj-lt"/>
              <a:buAutoNum type="arabicPeriod"/>
            </a:pPr>
            <a:endParaRPr lang="en-US" sz="1600" dirty="0"/>
          </a:p>
          <a:p>
            <a:pPr marL="400050" indent="-342900">
              <a:lnSpc>
                <a:spcPct val="90000"/>
              </a:lnSpc>
              <a:buFont typeface="+mj-lt"/>
              <a:buAutoNum type="arabicPeriod"/>
            </a:pPr>
            <a:r>
              <a:rPr lang="en-US" sz="1600" dirty="0"/>
              <a:t>Use </a:t>
            </a:r>
            <a:r>
              <a:rPr lang="en-US" sz="1600" b="1" dirty="0"/>
              <a:t>binder-age</a:t>
            </a:r>
            <a:r>
              <a:rPr lang="en-US" sz="1600" dirty="0"/>
              <a:t> balance as a key screening signal when comparing candidate mixes.</a:t>
            </a:r>
          </a:p>
          <a:p>
            <a:pPr marL="400050" indent="-342900">
              <a:lnSpc>
                <a:spcPct val="90000"/>
              </a:lnSpc>
              <a:buFont typeface="+mj-lt"/>
              <a:buAutoNum type="arabicPeriod"/>
            </a:pPr>
            <a:endParaRPr lang="en-US" sz="1600" dirty="0"/>
          </a:p>
          <a:p>
            <a:pPr marL="400050" indent="-342900">
              <a:lnSpc>
                <a:spcPct val="90000"/>
              </a:lnSpc>
              <a:buFont typeface="+mj-lt"/>
              <a:buAutoNum type="arabicPeriod"/>
            </a:pPr>
            <a:r>
              <a:rPr lang="en-US" sz="1600" dirty="0"/>
              <a:t>Monitor </a:t>
            </a:r>
            <a:r>
              <a:rPr lang="en-US" sz="1600" b="1" dirty="0"/>
              <a:t>water-binder</a:t>
            </a:r>
            <a:r>
              <a:rPr lang="en-US" sz="1600" dirty="0"/>
              <a:t> ratio carefully; it was the second-most important feature with importance 0.166.</a:t>
            </a:r>
          </a:p>
        </p:txBody>
      </p:sp>
      <p:sp>
        <p:nvSpPr>
          <p:cNvPr id="8" name="Text 6"/>
          <p:cNvSpPr/>
          <p:nvPr/>
        </p:nvSpPr>
        <p:spPr>
          <a:xfrm>
            <a:off x="4379976" y="1783080"/>
            <a:ext cx="3429000" cy="91440"/>
          </a:xfrm>
          <a:prstGeom prst="rect">
            <a:avLst/>
          </a:prstGeom>
          <a:solidFill>
            <a:srgbClr val="0F766E"/>
          </a:solidFill>
          <a:ln>
            <a:solidFill>
              <a:srgbClr val="0F766E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79976" y="1975104"/>
            <a:ext cx="3429000" cy="3621024"/>
          </a:xfrm>
          <a:prstGeom prst="rect">
            <a:avLst/>
          </a:prstGeom>
          <a:solidFill>
            <a:srgbClr val="FFFFFF"/>
          </a:solidFill>
          <a:ln w="15240">
            <a:solidFill>
              <a:srgbClr val="CCFBF1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Limitations</a:t>
            </a:r>
          </a:p>
          <a:p>
            <a:pPr marL="0" indent="0">
              <a:buNone/>
            </a:pPr>
            <a:endParaRPr lang="en-US" b="1" dirty="0">
              <a:solidFill>
                <a:srgbClr val="0F172A"/>
              </a:solidFill>
            </a:endParaRPr>
          </a:p>
          <a:p>
            <a:pPr marL="400050" indent="-342900">
              <a:lnSpc>
                <a:spcPct val="90000"/>
              </a:lnSpc>
              <a:buFont typeface="+mj-lt"/>
              <a:buAutoNum type="arabicPeriod"/>
            </a:pPr>
            <a:r>
              <a:rPr lang="en-US" sz="1600" dirty="0"/>
              <a:t>Dataset is modest: </a:t>
            </a:r>
            <a:r>
              <a:rPr lang="en-US" sz="1600" b="1" dirty="0"/>
              <a:t>1,005 cleaned rows </a:t>
            </a:r>
            <a:r>
              <a:rPr lang="en-US" sz="1600" dirty="0"/>
              <a:t>from a public dataset, not local production data.</a:t>
            </a:r>
          </a:p>
          <a:p>
            <a:pPr marL="400050" indent="-342900">
              <a:lnSpc>
                <a:spcPct val="90000"/>
              </a:lnSpc>
              <a:buFont typeface="+mj-lt"/>
              <a:buAutoNum type="arabicPeriod"/>
            </a:pPr>
            <a:endParaRPr lang="en-US" sz="1600" dirty="0"/>
          </a:p>
          <a:p>
            <a:pPr marL="400050" indent="-342900">
              <a:lnSpc>
                <a:spcPct val="90000"/>
              </a:lnSpc>
              <a:buFont typeface="+mj-lt"/>
              <a:buAutoNum type="arabicPeriod"/>
            </a:pPr>
            <a:r>
              <a:rPr lang="en-US" sz="1600" dirty="0"/>
              <a:t>Missing real-world variables such as curing temperature, humidity, material cost, cement type, and site conditions.</a:t>
            </a:r>
          </a:p>
        </p:txBody>
      </p:sp>
      <p:sp>
        <p:nvSpPr>
          <p:cNvPr id="11" name="Text 9"/>
          <p:cNvSpPr/>
          <p:nvPr/>
        </p:nvSpPr>
        <p:spPr>
          <a:xfrm>
            <a:off x="8101584" y="1783080"/>
            <a:ext cx="3429000" cy="91440"/>
          </a:xfrm>
          <a:prstGeom prst="rect">
            <a:avLst/>
          </a:prstGeom>
          <a:solidFill>
            <a:srgbClr val="D97706"/>
          </a:solidFill>
          <a:ln>
            <a:solidFill>
              <a:srgbClr val="D9770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01584" y="1975104"/>
            <a:ext cx="3429000" cy="3621024"/>
          </a:xfrm>
          <a:prstGeom prst="rect">
            <a:avLst/>
          </a:prstGeom>
          <a:solidFill>
            <a:srgbClr val="FFFFFF"/>
          </a:solidFill>
          <a:ln w="15240">
            <a:solidFill>
              <a:srgbClr val="FEF3C7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Next step</a:t>
            </a:r>
          </a:p>
          <a:p>
            <a:pPr marL="0" indent="0">
              <a:buNone/>
            </a:pPr>
            <a:endParaRPr lang="en-US" b="1" dirty="0">
              <a:solidFill>
                <a:srgbClr val="0F172A"/>
              </a:solidFill>
            </a:endParaRPr>
          </a:p>
          <a:p>
            <a:pPr marL="400050" indent="-342900">
              <a:lnSpc>
                <a:spcPct val="90000"/>
              </a:lnSpc>
              <a:buFont typeface="+mj-lt"/>
              <a:buAutoNum type="arabicPeriod"/>
            </a:pPr>
            <a:r>
              <a:rPr lang="en-US" sz="1600" dirty="0"/>
              <a:t>Validate the model on local/project-specific concrete batches and add cost and environmental impact data.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D8E5E456-5715-82A6-795E-AC887AF28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Team 6</a:t>
            </a:r>
            <a:endParaRPr lang="en-US" dirty="0"/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49B9DA5C-DB34-F496-796B-095CA6DBA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01C2374-AFB0-4057-AF61-3953E05D5197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Segoe UI Variable Display"/>
        <a:ea typeface=""/>
        <a:cs typeface=""/>
      </a:majorFont>
      <a:minorFont>
        <a:latin typeface="Segoe UI Variabl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82409d0-2d60-4b5b-ad02-e115ba24d74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33D20BC4E7EEF4A91B525D839B35DC6" ma:contentTypeVersion="17" ma:contentTypeDescription="Create a new document." ma:contentTypeScope="" ma:versionID="7cb62b8f2cd36ee006937bafb4804dd8">
  <xsd:schema xmlns:xsd="http://www.w3.org/2001/XMLSchema" xmlns:xs="http://www.w3.org/2001/XMLSchema" xmlns:p="http://schemas.microsoft.com/office/2006/metadata/properties" xmlns:ns3="c82409d0-2d60-4b5b-ad02-e115ba24d746" xmlns:ns4="9112262e-da39-4a9a-aa3c-85d80636334b" targetNamespace="http://schemas.microsoft.com/office/2006/metadata/properties" ma:root="true" ma:fieldsID="c742d36ab30a4c694a0657d6a24e9d49" ns3:_="" ns4:_="">
    <xsd:import namespace="c82409d0-2d60-4b5b-ad02-e115ba24d746"/>
    <xsd:import namespace="9112262e-da39-4a9a-aa3c-85d80636334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2409d0-2d60-4b5b-ad02-e115ba24d7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12262e-da39-4a9a-aa3c-85d80636334b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418B93A-AB7B-4DC3-A73D-717A92B81FD3}">
  <ds:schemaRefs>
    <ds:schemaRef ds:uri="http://www.w3.org/XML/1998/namespace"/>
    <ds:schemaRef ds:uri="http://schemas.microsoft.com/office/2006/metadata/properties"/>
    <ds:schemaRef ds:uri="9112262e-da39-4a9a-aa3c-85d80636334b"/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c82409d0-2d60-4b5b-ad02-e115ba24d746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E445D96-99E4-407D-913F-16534DE4D7B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D250D47-68FE-4C4A-8BC1-29C40FEAA2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2409d0-2d60-4b5b-ad02-e115ba24d746"/>
    <ds:schemaRef ds:uri="9112262e-da39-4a9a-aa3c-85d8063633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1604</TotalTime>
  <Words>800</Words>
  <Application>Microsoft Office PowerPoint</Application>
  <PresentationFormat>Widescreen</PresentationFormat>
  <Paragraphs>110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Segoe UI Variable Display</vt:lpstr>
      <vt:lpstr>Segoe UI Variable Text</vt:lpstr>
      <vt:lpstr>Office Theme</vt:lpstr>
      <vt:lpstr>Concrete Strength Prediction</vt:lpstr>
      <vt:lpstr>Why This Matters</vt:lpstr>
      <vt:lpstr>Data Overview</vt:lpstr>
      <vt:lpstr>Target Distribution</vt:lpstr>
      <vt:lpstr>Key EDA Patterns</vt:lpstr>
      <vt:lpstr>Preprocessing Decisions </vt:lpstr>
      <vt:lpstr>Feature Engineering</vt:lpstr>
      <vt:lpstr>Models Trained</vt:lpstr>
      <vt:lpstr>Model Comparison</vt:lpstr>
      <vt:lpstr>Test Performance and Cross-Validation</vt:lpstr>
      <vt:lpstr>Error Analysis</vt:lpstr>
      <vt:lpstr>Feature Importance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Gregory</dc:creator>
  <cp:lastModifiedBy>Mark Gregory</cp:lastModifiedBy>
  <cp:revision>6</cp:revision>
  <dcterms:created xsi:type="dcterms:W3CDTF">2026-04-25T17:00:50Z</dcterms:created>
  <dcterms:modified xsi:type="dcterms:W3CDTF">2026-04-26T19:47:09Z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0x010100233D20BC4E7EEF4A91B525D839B35DC6</vt:lpwstr>
  </property>
</Properties>
</file>